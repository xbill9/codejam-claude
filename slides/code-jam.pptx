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</p:sldIdLst>
  <p:sldSz cy="5143500" cx="9144000"/>
  <p:notesSz cx="6858000" cy="9144000"/>
  <p:embeddedFontLst>
    <p:embeddedFont>
      <p:font typeface="Google Sans"/>
      <p:regular r:id="rId26"/>
      <p:bold r:id="rId27"/>
      <p:italic r:id="rId28"/>
      <p:boldItalic r:id="rId29"/>
    </p:embeddedFont>
    <p:embeddedFont>
      <p:font typeface="Roboto Mono"/>
      <p:regular r:id="rId30"/>
      <p:bold r:id="rId31"/>
      <p:italic r:id="rId32"/>
      <p:boldItalic r:id="rId3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GoogleSans-regular.fntdata"/><Relationship Id="rId25" Type="http://schemas.openxmlformats.org/officeDocument/2006/relationships/slide" Target="slides/slide20.xml"/><Relationship Id="rId28" Type="http://schemas.openxmlformats.org/officeDocument/2006/relationships/font" Target="fonts/GoogleSans-italic.fntdata"/><Relationship Id="rId27" Type="http://schemas.openxmlformats.org/officeDocument/2006/relationships/font" Target="fonts/GoogleSans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GoogleSans-bold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RobotoMono-bold.fntdata"/><Relationship Id="rId30" Type="http://schemas.openxmlformats.org/officeDocument/2006/relationships/font" Target="fonts/RobotoMono-regular.fntdata"/><Relationship Id="rId11" Type="http://schemas.openxmlformats.org/officeDocument/2006/relationships/slide" Target="slides/slide6.xml"/><Relationship Id="rId33" Type="http://schemas.openxmlformats.org/officeDocument/2006/relationships/font" Target="fonts/RobotoMono-boldItalic.fntdata"/><Relationship Id="rId10" Type="http://schemas.openxmlformats.org/officeDocument/2006/relationships/slide" Target="slides/slide5.xml"/><Relationship Id="rId32" Type="http://schemas.openxmlformats.org/officeDocument/2006/relationships/font" Target="fonts/RobotoMono-italic.fnt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sl_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sl_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sl_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sl_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jam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jam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jam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jam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jam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jam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jam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jam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jamcl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jamcl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jam0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jam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jam6b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jam6b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jam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jam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jam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jam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jam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jam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jam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jam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jam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jam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jam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jam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jam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0" name="Google Shape;220;jam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jam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1" name="Google Shape;231;jam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jam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jam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jam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jam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sl_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sl_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6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8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2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7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builder.aws.com/community/@xbill9?tab=badges" TargetMode="External"/><Relationship Id="rId4" Type="http://schemas.openxmlformats.org/officeDocument/2006/relationships/hyperlink" Target="https://www.linkedin.com/in/xbill" TargetMode="External"/><Relationship Id="rId5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E7A5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/>
          <p:nvPr/>
        </p:nvSpPr>
        <p:spPr>
          <a:xfrm>
            <a:off x="411480" y="1325880"/>
            <a:ext cx="5669400" cy="2514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13"/>
          <p:cNvSpPr txBox="1"/>
          <p:nvPr/>
        </p:nvSpPr>
        <p:spPr>
          <a:xfrm>
            <a:off x="731520" y="1554480"/>
            <a:ext cx="5120700" cy="118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BulletProof: Resume Tailor Coding Jam</a:t>
            </a:r>
            <a:endParaRPr sz="32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731520" y="2788920"/>
            <a:ext cx="51207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1E1E1E"/>
                </a:solidFill>
                <a:latin typeface="Roboto Mono"/>
                <a:ea typeface="Roboto Mono"/>
                <a:cs typeface="Roboto Mono"/>
                <a:sym typeface="Roboto Mono"/>
              </a:rPr>
              <a:t>Columbia University and SHPE NYC Career Summit</a:t>
            </a:r>
            <a:endParaRPr sz="1200">
              <a:solidFill>
                <a:srgbClr val="1E1E1E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1E1E1E"/>
                </a:solidFill>
                <a:latin typeface="Roboto Mono"/>
                <a:ea typeface="Roboto Mono"/>
                <a:cs typeface="Roboto Mono"/>
                <a:sym typeface="Roboto Mono"/>
              </a:rPr>
              <a:t>Lerner Hall, Saturday, October 17, 2026</a:t>
            </a:r>
            <a:endParaRPr sz="1200">
              <a:solidFill>
                <a:srgbClr val="1E1E1E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200"/>
              </a:spcBef>
              <a:spcAft>
                <a:spcPts val="200"/>
              </a:spcAft>
              <a:buNone/>
            </a:pPr>
            <a:r>
              <a:rPr lang="en" sz="1200">
                <a:solidFill>
                  <a:srgbClr val="1E1E1E"/>
                </a:solidFill>
                <a:latin typeface="Roboto Mono"/>
                <a:ea typeface="Roboto Mono"/>
                <a:cs typeface="Roboto Mono"/>
                <a:sym typeface="Roboto Mono"/>
              </a:rPr>
              <a:t>GDG Brooklyn</a:t>
            </a:r>
            <a:endParaRPr sz="1200">
              <a:solidFill>
                <a:srgbClr val="1E1E1E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411480" y="4023360"/>
            <a:ext cx="56694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William McLean (xbill)</a:t>
            </a:r>
            <a:endParaRPr b="1" sz="16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CTO Glitnir Ticketing, GDE Cloud + AI, AWS CB (AI)</a:t>
            </a:r>
            <a:endParaRPr b="1" sz="16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58" name="Google Shape;58;p13"/>
          <p:cNvSpPr/>
          <p:nvPr/>
        </p:nvSpPr>
        <p:spPr>
          <a:xfrm>
            <a:off x="6355080" y="1325880"/>
            <a:ext cx="2377500" cy="3017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59" name="Google Shape;59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37960" y="1554480"/>
            <a:ext cx="2011680" cy="2011680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3"/>
          <p:cNvSpPr txBox="1"/>
          <p:nvPr/>
        </p:nvSpPr>
        <p:spPr>
          <a:xfrm>
            <a:off x="6492240" y="3611880"/>
            <a:ext cx="2103000" cy="5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Jam page</a:t>
            </a:r>
            <a:endParaRPr sz="16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61" name="Google Shape;61;p13"/>
          <p:cNvSpPr/>
          <p:nvPr/>
        </p:nvSpPr>
        <p:spPr>
          <a:xfrm>
            <a:off x="411480" y="365760"/>
            <a:ext cx="3017520" cy="685800"/>
          </a:xfrm>
          <a:prstGeom prst="flowChartTerminator">
            <a:avLst/>
          </a:prstGeom>
          <a:solidFill>
            <a:srgbClr val="FFFFFF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Coding Jam 2026</a:t>
            </a:r>
            <a:endParaRPr b="1" sz="24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62" name="Google Shape;62;p13"/>
          <p:cNvSpPr/>
          <p:nvPr/>
        </p:nvSpPr>
        <p:spPr>
          <a:xfrm>
            <a:off x="3749040" y="457200"/>
            <a:ext cx="502800" cy="502800"/>
          </a:xfrm>
          <a:prstGeom prst="ellipse">
            <a:avLst/>
          </a:prstGeom>
          <a:solidFill>
            <a:srgbClr val="EA4335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3"/>
          <p:cNvSpPr/>
          <p:nvPr/>
        </p:nvSpPr>
        <p:spPr>
          <a:xfrm>
            <a:off x="4389120" y="457200"/>
            <a:ext cx="502800" cy="502800"/>
          </a:xfrm>
          <a:prstGeom prst="ellipse">
            <a:avLst/>
          </a:prstGeom>
          <a:solidFill>
            <a:srgbClr val="4285F4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" name="Google Shape;64;p13"/>
          <p:cNvSpPr/>
          <p:nvPr/>
        </p:nvSpPr>
        <p:spPr>
          <a:xfrm>
            <a:off x="5029200" y="457200"/>
            <a:ext cx="502800" cy="502800"/>
          </a:xfrm>
          <a:prstGeom prst="ellipse">
            <a:avLst/>
          </a:prstGeom>
          <a:solidFill>
            <a:srgbClr val="34A853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4"/>
          <p:cNvSpPr/>
          <p:nvPr/>
        </p:nvSpPr>
        <p:spPr>
          <a:xfrm>
            <a:off x="365760" y="320040"/>
            <a:ext cx="8412600" cy="4526400"/>
          </a:xfrm>
          <a:prstGeom prst="roundRect">
            <a:avLst>
              <a:gd fmla="val 16667" name="adj"/>
            </a:avLst>
          </a:prstGeom>
          <a:solidFill>
            <a:srgbClr val="C3ECF6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" name="Google Shape;70;p14"/>
          <p:cNvSpPr txBox="1"/>
          <p:nvPr/>
        </p:nvSpPr>
        <p:spPr>
          <a:xfrm>
            <a:off x="777240" y="502920"/>
            <a:ext cx="7589400" cy="374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William McLean (xbill)</a:t>
            </a:r>
            <a:endParaRPr sz="28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0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AWS Community Builder 2026, AI</a:t>
            </a:r>
            <a:endParaRPr sz="20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0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GDE (Google Developer Expert), Cloud and AI/ML</a:t>
            </a:r>
            <a:endParaRPr sz="20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0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CTO and co-founder, Glitnir Ticketing</a:t>
            </a:r>
            <a:endParaRPr sz="20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20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2026 goal: multi-cloud agents, tools and models</a:t>
            </a:r>
            <a:endParaRPr sz="20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/>
          <p:cNvSpPr/>
          <p:nvPr/>
        </p:nvSpPr>
        <p:spPr>
          <a:xfrm>
            <a:off x="411480" y="320040"/>
            <a:ext cx="5920722" cy="566946"/>
          </a:xfrm>
          <a:prstGeom prst="flowChartTerminator">
            <a:avLst/>
          </a:prstGeom>
          <a:solidFill>
            <a:srgbClr val="FFFFFF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What You're Building: BulletProof</a:t>
            </a:r>
            <a:endParaRPr sz="24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76" name="Google Shape;76;p15"/>
          <p:cNvSpPr/>
          <p:nvPr/>
        </p:nvSpPr>
        <p:spPr>
          <a:xfrm>
            <a:off x="7086600" y="393192"/>
            <a:ext cx="1645920" cy="420606"/>
          </a:xfrm>
          <a:prstGeom prst="flowChartTerminator">
            <a:avLst/>
          </a:prstGeom>
          <a:solidFill>
            <a:srgbClr val="4285F4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Google Sans"/>
                <a:ea typeface="Google Sans"/>
                <a:cs typeface="Google Sans"/>
                <a:sym typeface="Google Sans"/>
              </a:rPr>
              <a:t>The brief</a:t>
            </a:r>
            <a:endParaRPr>
              <a:solidFill>
                <a:srgbClr val="FFFFFF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77" name="Google Shape;77;p15"/>
          <p:cNvSpPr/>
          <p:nvPr/>
        </p:nvSpPr>
        <p:spPr>
          <a:xfrm>
            <a:off x="411480" y="1097280"/>
            <a:ext cx="5715000" cy="3612000"/>
          </a:xfrm>
          <a:prstGeom prst="roundRect">
            <a:avLst>
              <a:gd fmla="val 16667" name="adj"/>
            </a:avLst>
          </a:prstGeom>
          <a:solidFill>
            <a:srgbClr val="C3ECF6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15"/>
          <p:cNvSpPr/>
          <p:nvPr/>
        </p:nvSpPr>
        <p:spPr>
          <a:xfrm>
            <a:off x="6355080" y="1097280"/>
            <a:ext cx="2377500" cy="361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5"/>
          <p:cNvSpPr txBox="1"/>
          <p:nvPr/>
        </p:nvSpPr>
        <p:spPr>
          <a:xfrm>
            <a:off x="731520" y="1463040"/>
            <a:ext cx="5120700" cy="310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1E1E1E"/>
              </a:buClr>
              <a:buSzPts val="1800"/>
              <a:buFont typeface="Google Sans"/>
              <a:buChar char="●"/>
            </a:pPr>
            <a:r>
              <a:rPr lang="en" sz="18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Paste a resume and a job posting</a:t>
            </a:r>
            <a:endParaRPr sz="18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Clr>
                <a:srgbClr val="1E1E1E"/>
              </a:buClr>
              <a:buSzPts val="1800"/>
              <a:buFont typeface="Google Sans"/>
              <a:buChar char="●"/>
            </a:pPr>
            <a:r>
              <a:rPr lang="en" sz="18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Click one button</a:t>
            </a:r>
            <a:endParaRPr sz="18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Clr>
                <a:srgbClr val="1E1E1E"/>
              </a:buClr>
              <a:buSzPts val="1800"/>
              <a:buFont typeface="Google Sans"/>
              <a:buChar char="●"/>
            </a:pPr>
            <a:r>
              <a:rPr lang="en" sz="18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Copy tailored resume bullets</a:t>
            </a:r>
            <a:endParaRPr sz="18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1200"/>
              </a:spcAft>
              <a:buClr>
                <a:srgbClr val="1E1E1E"/>
              </a:buClr>
              <a:buSzPts val="1800"/>
              <a:buFont typeface="Google Sans"/>
              <a:buChar char="●"/>
            </a:pPr>
            <a:r>
              <a:rPr lang="en" sz="18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Out of scope today: PDF parsing, cover letters, export</a:t>
            </a:r>
            <a:endParaRPr sz="18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80" name="Google Shape;80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37960" y="1417320"/>
            <a:ext cx="2011680" cy="2011680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5"/>
          <p:cNvSpPr txBox="1"/>
          <p:nvPr/>
        </p:nvSpPr>
        <p:spPr>
          <a:xfrm>
            <a:off x="6492240" y="3566160"/>
            <a:ext cx="210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Track brief</a:t>
            </a:r>
            <a:endParaRPr sz="16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6"/>
          <p:cNvSpPr/>
          <p:nvPr/>
        </p:nvSpPr>
        <p:spPr>
          <a:xfrm>
            <a:off x="411480" y="320040"/>
            <a:ext cx="5440554" cy="566946"/>
          </a:xfrm>
          <a:prstGeom prst="flowChartTerminator">
            <a:avLst/>
          </a:prstGeom>
          <a:solidFill>
            <a:srgbClr val="FFFFFF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Two Hours, Build in the Middle</a:t>
            </a:r>
            <a:endParaRPr sz="24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87" name="Google Shape;87;p16"/>
          <p:cNvSpPr/>
          <p:nvPr/>
        </p:nvSpPr>
        <p:spPr>
          <a:xfrm>
            <a:off x="7086600" y="393192"/>
            <a:ext cx="1645920" cy="420606"/>
          </a:xfrm>
          <a:prstGeom prst="flowChartTerminator">
            <a:avLst/>
          </a:prstGeom>
          <a:solidFill>
            <a:srgbClr val="4285F4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Google Sans"/>
                <a:ea typeface="Google Sans"/>
                <a:cs typeface="Google Sans"/>
                <a:sym typeface="Google Sans"/>
              </a:rPr>
              <a:t>Agenda</a:t>
            </a:r>
            <a:endParaRPr>
              <a:solidFill>
                <a:srgbClr val="FFFFFF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88" name="Google Shape;88;p16"/>
          <p:cNvSpPr/>
          <p:nvPr/>
        </p:nvSpPr>
        <p:spPr>
          <a:xfrm>
            <a:off x="411480" y="1097280"/>
            <a:ext cx="5715000" cy="3612000"/>
          </a:xfrm>
          <a:prstGeom prst="roundRect">
            <a:avLst>
              <a:gd fmla="val 16667" name="adj"/>
            </a:avLst>
          </a:prstGeom>
          <a:solidFill>
            <a:srgbClr val="C3ECF6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16"/>
          <p:cNvSpPr/>
          <p:nvPr/>
        </p:nvSpPr>
        <p:spPr>
          <a:xfrm>
            <a:off x="6355080" y="1097280"/>
            <a:ext cx="2377500" cy="361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16"/>
          <p:cNvSpPr txBox="1"/>
          <p:nvPr/>
        </p:nvSpPr>
        <p:spPr>
          <a:xfrm>
            <a:off x="731520" y="1463040"/>
            <a:ext cx="5120700" cy="310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1E1E1E"/>
              </a:buClr>
              <a:buSzPts val="1800"/>
              <a:buFont typeface="Google Sans"/>
              <a:buChar char="●"/>
            </a:pPr>
            <a:r>
              <a:rPr lang="en" sz="18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0:00  Check in and meet your neighbors</a:t>
            </a:r>
            <a:endParaRPr sz="18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Clr>
                <a:srgbClr val="1E1E1E"/>
              </a:buClr>
              <a:buSzPts val="1800"/>
              <a:buFont typeface="Google Sans"/>
              <a:buChar char="●"/>
            </a:pPr>
            <a:r>
              <a:rPr lang="en" sz="18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0:15  Claim credits and finish setup</a:t>
            </a:r>
            <a:endParaRPr sz="18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Clr>
                <a:srgbClr val="1E1E1E"/>
              </a:buClr>
              <a:buSzPts val="1800"/>
              <a:buFont typeface="Google Sans"/>
              <a:buChar char="●"/>
            </a:pPr>
            <a:r>
              <a:rPr lang="en" sz="18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0:30  Build with Antigravity and the codelab</a:t>
            </a:r>
            <a:endParaRPr sz="18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1200"/>
              </a:spcAft>
              <a:buClr>
                <a:srgbClr val="1E1E1E"/>
              </a:buClr>
              <a:buSzPts val="1800"/>
              <a:buFont typeface="Google Sans"/>
              <a:buChar char="●"/>
            </a:pPr>
            <a:r>
              <a:rPr lang="en" sz="18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1:35  Two-minute demo, then submit</a:t>
            </a:r>
            <a:endParaRPr sz="18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91" name="Google Shape;91;p16"/>
          <p:cNvSpPr txBox="1"/>
          <p:nvPr/>
        </p:nvSpPr>
        <p:spPr>
          <a:xfrm>
            <a:off x="6492240" y="3566160"/>
            <a:ext cx="210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Jam page</a:t>
            </a:r>
            <a:endParaRPr sz="16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92" name="Google Shape;92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37960" y="1417320"/>
            <a:ext cx="2011680" cy="20116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7"/>
          <p:cNvSpPr/>
          <p:nvPr/>
        </p:nvSpPr>
        <p:spPr>
          <a:xfrm>
            <a:off x="411480" y="320040"/>
            <a:ext cx="5600394" cy="566946"/>
          </a:xfrm>
          <a:prstGeom prst="flowChartTerminator">
            <a:avLst/>
          </a:prstGeom>
          <a:solidFill>
            <a:srgbClr val="FFFFFF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Install Before the Build Starts</a:t>
            </a:r>
            <a:endParaRPr sz="24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98" name="Google Shape;98;p17"/>
          <p:cNvSpPr/>
          <p:nvPr/>
        </p:nvSpPr>
        <p:spPr>
          <a:xfrm>
            <a:off x="7086600" y="393192"/>
            <a:ext cx="1645920" cy="420606"/>
          </a:xfrm>
          <a:prstGeom prst="flowChartTerminator">
            <a:avLst/>
          </a:prstGeom>
          <a:solidFill>
            <a:srgbClr val="4285F4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Google Sans"/>
                <a:ea typeface="Google Sans"/>
                <a:cs typeface="Google Sans"/>
                <a:sym typeface="Google Sans"/>
              </a:rPr>
              <a:t>Setup</a:t>
            </a:r>
            <a:endParaRPr>
              <a:solidFill>
                <a:srgbClr val="FFFFFF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99" name="Google Shape;99;p17"/>
          <p:cNvSpPr/>
          <p:nvPr/>
        </p:nvSpPr>
        <p:spPr>
          <a:xfrm>
            <a:off x="411480" y="1097280"/>
            <a:ext cx="5715000" cy="3612000"/>
          </a:xfrm>
          <a:prstGeom prst="roundRect">
            <a:avLst>
              <a:gd fmla="val 16667" name="adj"/>
            </a:avLst>
          </a:prstGeom>
          <a:solidFill>
            <a:srgbClr val="C3ECF6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7"/>
          <p:cNvSpPr/>
          <p:nvPr/>
        </p:nvSpPr>
        <p:spPr>
          <a:xfrm>
            <a:off x="6355080" y="1097280"/>
            <a:ext cx="2377500" cy="361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17"/>
          <p:cNvSpPr txBox="1"/>
          <p:nvPr/>
        </p:nvSpPr>
        <p:spPr>
          <a:xfrm>
            <a:off x="731520" y="1463040"/>
            <a:ext cx="5120700" cy="310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1E1E1E"/>
              </a:buClr>
              <a:buSzPts val="1800"/>
              <a:buFont typeface="Google Sans"/>
              <a:buChar char="●"/>
            </a:pPr>
            <a:r>
              <a:rPr lang="en" sz="18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Antigravity: antigravity.google/download</a:t>
            </a:r>
            <a:endParaRPr sz="18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Clr>
                <a:srgbClr val="1E1E1E"/>
              </a:buClr>
              <a:buSzPts val="1800"/>
              <a:buFont typeface="Google Sans"/>
              <a:buChar char="●"/>
            </a:pPr>
            <a:r>
              <a:rPr lang="en" sz="18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Git, and a GitHub account that can clone</a:t>
            </a:r>
            <a:endParaRPr sz="18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Clr>
                <a:srgbClr val="1E1E1E"/>
              </a:buClr>
              <a:buSzPts val="1800"/>
              <a:buFont typeface="Google Sans"/>
              <a:buChar char="●"/>
            </a:pPr>
            <a:r>
              <a:rPr lang="en" sz="18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A Gemini API key from ai.google.dev</a:t>
            </a:r>
            <a:endParaRPr sz="18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1200"/>
              </a:spcAft>
              <a:buClr>
                <a:srgbClr val="1E1E1E"/>
              </a:buClr>
              <a:buSzPts val="1800"/>
              <a:buFont typeface="Google Sans"/>
              <a:buChar char="●"/>
            </a:pPr>
            <a:r>
              <a:rPr lang="en" sz="18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Do it at home on good Wi-Fi; no installs once the build starts</a:t>
            </a:r>
            <a:endParaRPr sz="18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02" name="Google Shape;102;p17"/>
          <p:cNvSpPr txBox="1"/>
          <p:nvPr/>
        </p:nvSpPr>
        <p:spPr>
          <a:xfrm>
            <a:off x="6492240" y="3566160"/>
            <a:ext cx="210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Antigravity setup</a:t>
            </a:r>
            <a:endParaRPr sz="16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103" name="Google Shape;103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37960" y="1417320"/>
            <a:ext cx="2011680" cy="20116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8"/>
          <p:cNvSpPr/>
          <p:nvPr/>
        </p:nvSpPr>
        <p:spPr>
          <a:xfrm>
            <a:off x="411480" y="320040"/>
            <a:ext cx="5600394" cy="566946"/>
          </a:xfrm>
          <a:prstGeom prst="flowChartTerminator">
            <a:avLst/>
          </a:prstGeom>
          <a:solidFill>
            <a:srgbClr val="FFFFFF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Claim Credits, Create a Project</a:t>
            </a:r>
            <a:endParaRPr sz="24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09" name="Google Shape;109;p18"/>
          <p:cNvSpPr/>
          <p:nvPr/>
        </p:nvSpPr>
        <p:spPr>
          <a:xfrm>
            <a:off x="7086600" y="393192"/>
            <a:ext cx="1645920" cy="420606"/>
          </a:xfrm>
          <a:prstGeom prst="flowChartTerminator">
            <a:avLst/>
          </a:prstGeom>
          <a:solidFill>
            <a:srgbClr val="4285F4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Google Sans"/>
                <a:ea typeface="Google Sans"/>
                <a:cs typeface="Google Sans"/>
                <a:sym typeface="Google Sans"/>
              </a:rPr>
              <a:t>Setup</a:t>
            </a:r>
            <a:endParaRPr>
              <a:solidFill>
                <a:srgbClr val="FFFFFF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10" name="Google Shape;110;p18"/>
          <p:cNvSpPr/>
          <p:nvPr/>
        </p:nvSpPr>
        <p:spPr>
          <a:xfrm>
            <a:off x="411480" y="1097280"/>
            <a:ext cx="5715000" cy="3612000"/>
          </a:xfrm>
          <a:prstGeom prst="roundRect">
            <a:avLst>
              <a:gd fmla="val 16667" name="adj"/>
            </a:avLst>
          </a:prstGeom>
          <a:solidFill>
            <a:srgbClr val="C3ECF6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18"/>
          <p:cNvSpPr/>
          <p:nvPr/>
        </p:nvSpPr>
        <p:spPr>
          <a:xfrm>
            <a:off x="6355080" y="1097280"/>
            <a:ext cx="2377500" cy="361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18"/>
          <p:cNvSpPr txBox="1"/>
          <p:nvPr/>
        </p:nvSpPr>
        <p:spPr>
          <a:xfrm>
            <a:off x="731520" y="1463040"/>
            <a:ext cx="5120700" cy="310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1E1E1E"/>
              </a:buClr>
              <a:buSzPts val="1800"/>
              <a:buFont typeface="Google Sans"/>
              <a:buChar char="●"/>
            </a:pPr>
            <a:r>
              <a:rPr lang="en" sz="18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Claim credits with a personal Gmail account</a:t>
            </a:r>
            <a:endParaRPr sz="18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Clr>
                <a:srgbClr val="1E1E1E"/>
              </a:buClr>
              <a:buSzPts val="1800"/>
              <a:buFont typeface="Google Sans"/>
              <a:buChar char="●"/>
            </a:pPr>
            <a:r>
              <a:rPr lang="en" sz="18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Create a fresh project and attach the credits</a:t>
            </a:r>
            <a:endParaRPr sz="18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Clr>
                <a:srgbClr val="1E1E1E"/>
              </a:buClr>
              <a:buSzPts val="1800"/>
              <a:buFont typeface="Google Sans"/>
              <a:buChar char="●"/>
            </a:pPr>
            <a:r>
              <a:rPr lang="en" sz="18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Enable Agent Platform: the step people skip most</a:t>
            </a:r>
            <a:endParaRPr sz="18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1200"/>
              </a:spcAft>
              <a:buClr>
                <a:srgbClr val="1E1E1E"/>
              </a:buClr>
              <a:buSzPts val="1800"/>
              <a:buFont typeface="Google Sans"/>
              <a:buChar char="●"/>
            </a:pPr>
            <a:r>
              <a:rPr lang="en" sz="18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Sign in to Antigravity with your project ID, not the display name</a:t>
            </a:r>
            <a:endParaRPr sz="18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13" name="Google Shape;113;p18"/>
          <p:cNvSpPr txBox="1"/>
          <p:nvPr/>
        </p:nvSpPr>
        <p:spPr>
          <a:xfrm>
            <a:off x="6492240" y="3566160"/>
            <a:ext cx="210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Enable Agent Platform</a:t>
            </a:r>
            <a:endParaRPr sz="16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114" name="Google Shape;114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37960" y="1417320"/>
            <a:ext cx="2011680" cy="20116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2F1F0"/>
        </a:solidFill>
      </p:bgPr>
    </p:bg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9"/>
          <p:cNvSpPr txBox="1"/>
          <p:nvPr/>
        </p:nvSpPr>
        <p:spPr>
          <a:xfrm>
            <a:off x="548640" y="822960"/>
            <a:ext cx="5303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8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The Codelab</a:t>
            </a:r>
            <a:endParaRPr b="1" sz="48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20" name="Google Shape;120;p19"/>
          <p:cNvSpPr txBox="1"/>
          <p:nvPr/>
        </p:nvSpPr>
        <p:spPr>
          <a:xfrm>
            <a:off x="548640" y="1783080"/>
            <a:ext cx="53034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1E1E1E"/>
                </a:solidFill>
                <a:latin typeface="Roboto Mono"/>
                <a:ea typeface="Roboto Mono"/>
                <a:cs typeface="Roboto Mono"/>
                <a:sym typeface="Roboto Mono"/>
              </a:rPr>
              <a:t>Follow this codelab: your Google Cloud credits work here, not in AI Studio</a:t>
            </a:r>
            <a:endParaRPr>
              <a:solidFill>
                <a:srgbClr val="1E1E1E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1E1E1E"/>
                </a:solidFill>
                <a:latin typeface="Roboto Mono"/>
                <a:ea typeface="Roboto Mono"/>
                <a:cs typeface="Roboto Mono"/>
                <a:sym typeface="Roboto Mono"/>
              </a:rPr>
              <a:t>Ten steps, about 75 minutes</a:t>
            </a:r>
            <a:endParaRPr>
              <a:solidFill>
                <a:srgbClr val="1E1E1E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600"/>
              </a:spcBef>
              <a:spcAft>
                <a:spcPts val="600"/>
              </a:spcAft>
              <a:buNone/>
            </a:pPr>
            <a:r>
              <a:rPr lang="en">
                <a:solidFill>
                  <a:srgbClr val="1E1E1E"/>
                </a:solidFill>
                <a:latin typeface="Roboto Mono"/>
                <a:ea typeface="Roboto Mono"/>
                <a:cs typeface="Roboto Mono"/>
                <a:sym typeface="Roboto Mono"/>
              </a:rPr>
              <a:t>Every step slide has its own QR code</a:t>
            </a:r>
            <a:endParaRPr>
              <a:solidFill>
                <a:srgbClr val="1E1E1E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121" name="Google Shape;121;p19"/>
          <p:cNvSpPr/>
          <p:nvPr/>
        </p:nvSpPr>
        <p:spPr>
          <a:xfrm>
            <a:off x="548640" y="4069080"/>
            <a:ext cx="841266" cy="438912"/>
          </a:xfrm>
          <a:prstGeom prst="flowChartTerminator">
            <a:avLst/>
          </a:prstGeom>
          <a:solidFill>
            <a:srgbClr val="5CDB6D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Setup</a:t>
            </a:r>
            <a:endParaRPr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22" name="Google Shape;122;p19"/>
          <p:cNvSpPr/>
          <p:nvPr/>
        </p:nvSpPr>
        <p:spPr>
          <a:xfrm>
            <a:off x="1499616" y="4069080"/>
            <a:ext cx="841266" cy="438912"/>
          </a:xfrm>
          <a:prstGeom prst="flowChartTerminator">
            <a:avLst/>
          </a:prstGeom>
          <a:solidFill>
            <a:srgbClr val="5CDB6D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Plan</a:t>
            </a:r>
            <a:endParaRPr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23" name="Google Shape;123;p19"/>
          <p:cNvSpPr/>
          <p:nvPr/>
        </p:nvSpPr>
        <p:spPr>
          <a:xfrm>
            <a:off x="2450592" y="4069080"/>
            <a:ext cx="841266" cy="438912"/>
          </a:xfrm>
          <a:prstGeom prst="flowChartTerminator">
            <a:avLst/>
          </a:prstGeom>
          <a:solidFill>
            <a:srgbClr val="5CDB6D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Review</a:t>
            </a:r>
            <a:endParaRPr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24" name="Google Shape;124;p19"/>
          <p:cNvSpPr/>
          <p:nvPr/>
        </p:nvSpPr>
        <p:spPr>
          <a:xfrm>
            <a:off x="3401568" y="4069080"/>
            <a:ext cx="841266" cy="438912"/>
          </a:xfrm>
          <a:prstGeom prst="flowChartTerminator">
            <a:avLst/>
          </a:prstGeom>
          <a:solidFill>
            <a:srgbClr val="5CDB6D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Build</a:t>
            </a:r>
            <a:endParaRPr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25" name="Google Shape;125;p19"/>
          <p:cNvSpPr/>
          <p:nvPr/>
        </p:nvSpPr>
        <p:spPr>
          <a:xfrm>
            <a:off x="4352544" y="4069080"/>
            <a:ext cx="841266" cy="438912"/>
          </a:xfrm>
          <a:prstGeom prst="flowChartTerminator">
            <a:avLst/>
          </a:prstGeom>
          <a:solidFill>
            <a:srgbClr val="5CDB6D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API</a:t>
            </a:r>
            <a:endParaRPr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26" name="Google Shape;126;p19"/>
          <p:cNvSpPr/>
          <p:nvPr/>
        </p:nvSpPr>
        <p:spPr>
          <a:xfrm>
            <a:off x="5303520" y="4069080"/>
            <a:ext cx="841266" cy="438912"/>
          </a:xfrm>
          <a:prstGeom prst="flowChartTerminator">
            <a:avLst/>
          </a:prstGeom>
          <a:solidFill>
            <a:srgbClr val="5CDB6D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Verify</a:t>
            </a:r>
            <a:endParaRPr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27" name="Google Shape;127;p19"/>
          <p:cNvSpPr/>
          <p:nvPr/>
        </p:nvSpPr>
        <p:spPr>
          <a:xfrm>
            <a:off x="6355080" y="731520"/>
            <a:ext cx="2377500" cy="31089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28" name="Google Shape;128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37960" y="914400"/>
            <a:ext cx="2011680" cy="2011680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9"/>
          <p:cNvSpPr txBox="1"/>
          <p:nvPr/>
        </p:nvSpPr>
        <p:spPr>
          <a:xfrm>
            <a:off x="6492240" y="3063240"/>
            <a:ext cx="210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Scan for the codelab</a:t>
            </a:r>
            <a:endParaRPr sz="16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0"/>
          <p:cNvSpPr/>
          <p:nvPr/>
        </p:nvSpPr>
        <p:spPr>
          <a:xfrm>
            <a:off x="411480" y="320040"/>
            <a:ext cx="6080562" cy="566946"/>
          </a:xfrm>
          <a:prstGeom prst="flowChartTerminator">
            <a:avLst/>
          </a:prstGeom>
          <a:solidFill>
            <a:srgbClr val="FFFFFF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Install and Sign In to Antigravity</a:t>
            </a:r>
            <a:endParaRPr sz="24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35" name="Google Shape;135;p20"/>
          <p:cNvSpPr/>
          <p:nvPr/>
        </p:nvSpPr>
        <p:spPr>
          <a:xfrm>
            <a:off x="7086600" y="393192"/>
            <a:ext cx="1645920" cy="420606"/>
          </a:xfrm>
          <a:prstGeom prst="flowChartTerminator">
            <a:avLst/>
          </a:prstGeom>
          <a:solidFill>
            <a:srgbClr val="5CDB6D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Step 1</a:t>
            </a:r>
            <a:endParaRPr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36" name="Google Shape;136;p20"/>
          <p:cNvSpPr/>
          <p:nvPr/>
        </p:nvSpPr>
        <p:spPr>
          <a:xfrm>
            <a:off x="411480" y="1097280"/>
            <a:ext cx="5715000" cy="3612000"/>
          </a:xfrm>
          <a:prstGeom prst="roundRect">
            <a:avLst>
              <a:gd fmla="val 16667" name="adj"/>
            </a:avLst>
          </a:prstGeom>
          <a:solidFill>
            <a:srgbClr val="CCF6C5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20"/>
          <p:cNvSpPr/>
          <p:nvPr/>
        </p:nvSpPr>
        <p:spPr>
          <a:xfrm>
            <a:off x="6355080" y="1097280"/>
            <a:ext cx="2377500" cy="361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20"/>
          <p:cNvSpPr txBox="1"/>
          <p:nvPr/>
        </p:nvSpPr>
        <p:spPr>
          <a:xfrm>
            <a:off x="731520" y="1463040"/>
            <a:ext cx="5120700" cy="310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1E1E1E"/>
              </a:buClr>
              <a:buSzPts val="1800"/>
              <a:buFont typeface="Google Sans"/>
              <a:buChar char="●"/>
            </a:pPr>
            <a:r>
              <a:rPr lang="en" sz="18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Download Antigravity 2.0 from antigravity.google/download</a:t>
            </a:r>
            <a:endParaRPr sz="18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Clr>
                <a:srgbClr val="1E1E1E"/>
              </a:buClr>
              <a:buSzPts val="1800"/>
              <a:buFont typeface="Google Sans"/>
              <a:buChar char="●"/>
            </a:pPr>
            <a:r>
              <a:rPr lang="en" sz="18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Run the installer with the default settings</a:t>
            </a:r>
            <a:endParaRPr sz="18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Clr>
                <a:srgbClr val="1E1E1E"/>
              </a:buClr>
              <a:buSzPts val="1800"/>
              <a:buFont typeface="Google Sans"/>
              <a:buChar char="●"/>
            </a:pPr>
            <a:r>
              <a:rPr lang="en" sz="18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Sign in with the Google account you will use for Google Cloud</a:t>
            </a:r>
            <a:endParaRPr sz="18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1200"/>
              </a:spcAft>
              <a:buClr>
                <a:srgbClr val="1E1E1E"/>
              </a:buClr>
              <a:buSzPts val="1800"/>
              <a:buFont typeface="Google Sans"/>
              <a:buChar char="●"/>
            </a:pPr>
            <a:r>
              <a:rPr lang="en" sz="18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Check: the welcome screen shows Open Folder and Clone Repository</a:t>
            </a:r>
            <a:endParaRPr sz="18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39" name="Google Shape;139;p20"/>
          <p:cNvSpPr txBox="1"/>
          <p:nvPr/>
        </p:nvSpPr>
        <p:spPr>
          <a:xfrm>
            <a:off x="6492240" y="3566160"/>
            <a:ext cx="210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Codelab step 1</a:t>
            </a:r>
            <a:endParaRPr sz="16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140" name="Google Shape;140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37960" y="1417320"/>
            <a:ext cx="2011680" cy="20116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/>
          <p:nvPr/>
        </p:nvSpPr>
        <p:spPr>
          <a:xfrm>
            <a:off x="411480" y="320040"/>
            <a:ext cx="5920668" cy="566946"/>
          </a:xfrm>
          <a:prstGeom prst="flowChartTerminator">
            <a:avLst/>
          </a:prstGeom>
          <a:solidFill>
            <a:srgbClr val="FFFFFF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Install uv and Git With the Agent</a:t>
            </a:r>
            <a:endParaRPr sz="24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46" name="Google Shape;146;p21"/>
          <p:cNvSpPr/>
          <p:nvPr/>
        </p:nvSpPr>
        <p:spPr>
          <a:xfrm>
            <a:off x="7086600" y="393192"/>
            <a:ext cx="1645920" cy="420606"/>
          </a:xfrm>
          <a:prstGeom prst="flowChartTerminator">
            <a:avLst/>
          </a:prstGeom>
          <a:solidFill>
            <a:srgbClr val="5CDB6D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Step 2</a:t>
            </a:r>
            <a:endParaRPr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47" name="Google Shape;147;p21"/>
          <p:cNvSpPr/>
          <p:nvPr/>
        </p:nvSpPr>
        <p:spPr>
          <a:xfrm>
            <a:off x="411480" y="1097280"/>
            <a:ext cx="5715000" cy="3612000"/>
          </a:xfrm>
          <a:prstGeom prst="roundRect">
            <a:avLst>
              <a:gd fmla="val 16667" name="adj"/>
            </a:avLst>
          </a:prstGeom>
          <a:solidFill>
            <a:srgbClr val="CCF6C5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21"/>
          <p:cNvSpPr/>
          <p:nvPr/>
        </p:nvSpPr>
        <p:spPr>
          <a:xfrm>
            <a:off x="6355080" y="1097280"/>
            <a:ext cx="2377500" cy="361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21"/>
          <p:cNvSpPr txBox="1"/>
          <p:nvPr/>
        </p:nvSpPr>
        <p:spPr>
          <a:xfrm>
            <a:off x="731520" y="1463040"/>
            <a:ext cx="5120700" cy="310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1E1E1E"/>
              </a:buClr>
              <a:buSzPts val="1800"/>
              <a:buFont typeface="Google Sans"/>
              <a:buChar char="●"/>
            </a:pPr>
            <a:r>
              <a:rPr lang="en" sz="18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Open an empty folder, such as coding-jam-setup</a:t>
            </a:r>
            <a:endParaRPr sz="18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Clr>
                <a:srgbClr val="1E1E1E"/>
              </a:buClr>
              <a:buSzPts val="1800"/>
              <a:buFont typeface="Google Sans"/>
              <a:buChar char="●"/>
            </a:pPr>
            <a:r>
              <a:rPr lang="en" sz="18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Prompt: “Install uv and git on my computer if they're not already there.”</a:t>
            </a:r>
            <a:endParaRPr sz="18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Clr>
                <a:srgbClr val="1E1E1E"/>
              </a:buClr>
              <a:buSzPts val="1800"/>
              <a:buFont typeface="Google Sans"/>
              <a:buChar char="●"/>
            </a:pPr>
            <a:r>
              <a:rPr lang="en" sz="18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Approve each install command; skip Node.js</a:t>
            </a:r>
            <a:endParaRPr sz="18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1200"/>
              </a:spcAft>
              <a:buClr>
                <a:srgbClr val="1E1E1E"/>
              </a:buClr>
              <a:buSzPts val="1800"/>
              <a:buFont typeface="Google Sans"/>
              <a:buChar char="●"/>
            </a:pPr>
            <a:r>
              <a:rPr lang="en" sz="18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If it fails, install uv and git by hand, then ask the agent to check</a:t>
            </a:r>
            <a:endParaRPr sz="18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50" name="Google Shape;150;p21"/>
          <p:cNvSpPr txBox="1"/>
          <p:nvPr/>
        </p:nvSpPr>
        <p:spPr>
          <a:xfrm>
            <a:off x="6492240" y="3566160"/>
            <a:ext cx="210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Codelab step 2</a:t>
            </a:r>
            <a:endParaRPr sz="16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151" name="Google Shape;151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37960" y="1417320"/>
            <a:ext cx="2011680" cy="20116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2"/>
          <p:cNvSpPr/>
          <p:nvPr/>
        </p:nvSpPr>
        <p:spPr>
          <a:xfrm>
            <a:off x="411480" y="320040"/>
            <a:ext cx="4160484" cy="566946"/>
          </a:xfrm>
          <a:prstGeom prst="flowChartTerminator">
            <a:avLst/>
          </a:prstGeom>
          <a:solidFill>
            <a:srgbClr val="FFFFFF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Clone the Starter Repo</a:t>
            </a:r>
            <a:endParaRPr sz="24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57" name="Google Shape;157;p22"/>
          <p:cNvSpPr/>
          <p:nvPr/>
        </p:nvSpPr>
        <p:spPr>
          <a:xfrm>
            <a:off x="7086600" y="393192"/>
            <a:ext cx="1645920" cy="420606"/>
          </a:xfrm>
          <a:prstGeom prst="flowChartTerminator">
            <a:avLst/>
          </a:prstGeom>
          <a:solidFill>
            <a:srgbClr val="5CDB6D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Step 3</a:t>
            </a:r>
            <a:endParaRPr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58" name="Google Shape;158;p22"/>
          <p:cNvSpPr/>
          <p:nvPr/>
        </p:nvSpPr>
        <p:spPr>
          <a:xfrm>
            <a:off x="411480" y="1097280"/>
            <a:ext cx="5715000" cy="3612000"/>
          </a:xfrm>
          <a:prstGeom prst="roundRect">
            <a:avLst>
              <a:gd fmla="val 16667" name="adj"/>
            </a:avLst>
          </a:prstGeom>
          <a:solidFill>
            <a:srgbClr val="CCF6C5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2"/>
          <p:cNvSpPr/>
          <p:nvPr/>
        </p:nvSpPr>
        <p:spPr>
          <a:xfrm>
            <a:off x="6355080" y="1097280"/>
            <a:ext cx="2377500" cy="361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22"/>
          <p:cNvSpPr txBox="1"/>
          <p:nvPr/>
        </p:nvSpPr>
        <p:spPr>
          <a:xfrm>
            <a:off x="731520" y="1463040"/>
            <a:ext cx="5120700" cy="310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1E1E1E"/>
              </a:buClr>
              <a:buSzPts val="1800"/>
              <a:buFont typeface="Google Sans"/>
              <a:buChar char="●"/>
            </a:pPr>
            <a:r>
              <a:rPr lang="en" sz="18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Repo: gca-americas/codingjam-bulletproof</a:t>
            </a:r>
            <a:endParaRPr sz="18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Clr>
                <a:srgbClr val="1E1E1E"/>
              </a:buClr>
              <a:buSzPts val="1800"/>
              <a:buFont typeface="Google Sans"/>
              <a:buChar char="●"/>
            </a:pPr>
            <a:r>
              <a:rPr lang="en" sz="18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Use Antigravity's Clone Repository button</a:t>
            </a:r>
            <a:endParaRPr sz="18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Clr>
                <a:srgbClr val="1E1E1E"/>
              </a:buClr>
              <a:buSzPts val="1800"/>
              <a:buFont typeface="Google Sans"/>
              <a:buChar char="●"/>
            </a:pPr>
            <a:r>
              <a:rPr lang="en" sz="18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Read BRIEF.md and the reference/ folder</a:t>
            </a:r>
            <a:endParaRPr sz="18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1200"/>
              </a:spcAft>
              <a:buClr>
                <a:srgbClr val="1E1E1E"/>
              </a:buClr>
              <a:buSzPts val="1800"/>
              <a:buFont typeface="Google Sans"/>
              <a:buChar char="●"/>
            </a:pPr>
            <a:r>
              <a:rPr lang="en" sz="18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Replace PASTE_YOUR_PROJECT and PASTE_YOUR_LOCATION, or .env gets placeholders</a:t>
            </a:r>
            <a:endParaRPr sz="18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61" name="Google Shape;161;p22"/>
          <p:cNvSpPr txBox="1"/>
          <p:nvPr/>
        </p:nvSpPr>
        <p:spPr>
          <a:xfrm>
            <a:off x="6492240" y="3566160"/>
            <a:ext cx="210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Codelab step 3</a:t>
            </a:r>
            <a:endParaRPr sz="16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162" name="Google Shape;162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37960" y="1417320"/>
            <a:ext cx="2011680" cy="20116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/>
          <p:nvPr/>
        </p:nvSpPr>
        <p:spPr>
          <a:xfrm>
            <a:off x="411480" y="320040"/>
            <a:ext cx="4960386" cy="566946"/>
          </a:xfrm>
          <a:prstGeom prst="flowChartTerminator">
            <a:avLst/>
          </a:prstGeom>
          <a:solidFill>
            <a:srgbClr val="FFFFFF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Install the Workshop Skills</a:t>
            </a:r>
            <a:endParaRPr sz="24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68" name="Google Shape;168;p23"/>
          <p:cNvSpPr/>
          <p:nvPr/>
        </p:nvSpPr>
        <p:spPr>
          <a:xfrm>
            <a:off x="7086600" y="393192"/>
            <a:ext cx="1645920" cy="420606"/>
          </a:xfrm>
          <a:prstGeom prst="flowChartTerminator">
            <a:avLst/>
          </a:prstGeom>
          <a:solidFill>
            <a:srgbClr val="5CDB6D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Step 4</a:t>
            </a:r>
            <a:endParaRPr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411480" y="1097280"/>
            <a:ext cx="5715000" cy="3612000"/>
          </a:xfrm>
          <a:prstGeom prst="roundRect">
            <a:avLst>
              <a:gd fmla="val 16667" name="adj"/>
            </a:avLst>
          </a:prstGeom>
          <a:solidFill>
            <a:srgbClr val="CCF6C5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23"/>
          <p:cNvSpPr/>
          <p:nvPr/>
        </p:nvSpPr>
        <p:spPr>
          <a:xfrm>
            <a:off x="6355080" y="1097280"/>
            <a:ext cx="2377500" cy="361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23"/>
          <p:cNvSpPr txBox="1"/>
          <p:nvPr/>
        </p:nvSpPr>
        <p:spPr>
          <a:xfrm>
            <a:off x="731520" y="1463040"/>
            <a:ext cx="5120700" cy="310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1E1E1E"/>
              </a:buClr>
              <a:buSzPts val="1800"/>
              <a:buFont typeface="Google Sans"/>
              <a:buChar char="●"/>
            </a:pPr>
            <a:r>
              <a:rPr lang="en" sz="18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Ask the agent to clone skills-garden and gemini-skills into .agent/skills/</a:t>
            </a:r>
            <a:endParaRPr sz="18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Clr>
                <a:srgbClr val="1E1E1E"/>
              </a:buClr>
              <a:buSzPts val="1800"/>
              <a:buFont typeface="Google Sans"/>
              <a:buChar char="●"/>
            </a:pPr>
            <a:r>
              <a:rPr lang="en" sz="18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Click Allow on both git pop-ups</a:t>
            </a:r>
            <a:endParaRPr sz="18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1200"/>
              </a:spcAft>
              <a:buClr>
                <a:srgbClr val="1E1E1E"/>
              </a:buClr>
              <a:buSzPts val="1800"/>
              <a:buFont typeface="Google Sans"/>
              <a:buChar char="●"/>
            </a:pPr>
            <a:r>
              <a:rPr lang="en" sz="18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Leave Turbo mode off</a:t>
            </a:r>
            <a:endParaRPr sz="18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72" name="Google Shape;172;p23"/>
          <p:cNvSpPr txBox="1"/>
          <p:nvPr/>
        </p:nvSpPr>
        <p:spPr>
          <a:xfrm>
            <a:off x="6492240" y="3566160"/>
            <a:ext cx="210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Codelab step 4</a:t>
            </a:r>
            <a:endParaRPr sz="16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173" name="Google Shape;173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37960" y="1417320"/>
            <a:ext cx="2011680" cy="20116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4"/>
          <p:cNvSpPr/>
          <p:nvPr/>
        </p:nvSpPr>
        <p:spPr>
          <a:xfrm>
            <a:off x="411480" y="320040"/>
            <a:ext cx="5600394" cy="566946"/>
          </a:xfrm>
          <a:prstGeom prst="flowChartTerminator">
            <a:avLst/>
          </a:prstGeom>
          <a:solidFill>
            <a:srgbClr val="FFFFFF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The Spec Talk Takes Two Minutes</a:t>
            </a:r>
            <a:endParaRPr sz="24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7086600" y="393192"/>
            <a:ext cx="1645920" cy="420606"/>
          </a:xfrm>
          <a:prstGeom prst="flowChartTerminator">
            <a:avLst/>
          </a:prstGeom>
          <a:solidFill>
            <a:srgbClr val="5CDB6D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Step 5</a:t>
            </a:r>
            <a:endParaRPr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411480" y="1097280"/>
            <a:ext cx="5715000" cy="3612000"/>
          </a:xfrm>
          <a:prstGeom prst="roundRect">
            <a:avLst>
              <a:gd fmla="val 16667" name="adj"/>
            </a:avLst>
          </a:prstGeom>
          <a:solidFill>
            <a:srgbClr val="CCF6C5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24"/>
          <p:cNvSpPr/>
          <p:nvPr/>
        </p:nvSpPr>
        <p:spPr>
          <a:xfrm>
            <a:off x="6355080" y="1097280"/>
            <a:ext cx="2377500" cy="361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24"/>
          <p:cNvSpPr txBox="1"/>
          <p:nvPr/>
        </p:nvSpPr>
        <p:spPr>
          <a:xfrm>
            <a:off x="731520" y="1463040"/>
            <a:ext cx="5120700" cy="310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1E1E1E"/>
              </a:buClr>
              <a:buSzPts val="1800"/>
              <a:buFont typeface="Google Sans"/>
              <a:buChar char="●"/>
            </a:pPr>
            <a:r>
              <a:rPr lang="en" sz="18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The agent asks three questions: inputs, the magical moment, out of scope</a:t>
            </a:r>
            <a:endParaRPr sz="18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Clr>
                <a:srgbClr val="1E1E1E"/>
              </a:buClr>
              <a:buSzPts val="1800"/>
              <a:buFont typeface="Google Sans"/>
              <a:buChar char="●"/>
            </a:pPr>
            <a:r>
              <a:rPr lang="en" sz="18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Answer them; no files get written yet</a:t>
            </a:r>
            <a:endParaRPr sz="18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1200"/>
              </a:spcAft>
              <a:buClr>
                <a:srgbClr val="1E1E1E"/>
              </a:buClr>
              <a:buSzPts val="1800"/>
              <a:buFont typeface="Google Sans"/>
              <a:buChar char="●"/>
            </a:pPr>
            <a:r>
              <a:rPr lang="en" sz="18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If product.md appears, ask the agent to delete it</a:t>
            </a:r>
            <a:endParaRPr sz="18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83" name="Google Shape;183;p24"/>
          <p:cNvSpPr txBox="1"/>
          <p:nvPr/>
        </p:nvSpPr>
        <p:spPr>
          <a:xfrm>
            <a:off x="6492240" y="3566160"/>
            <a:ext cx="210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Codelab step 5</a:t>
            </a:r>
            <a:endParaRPr sz="16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184" name="Google Shape;184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37960" y="1417320"/>
            <a:ext cx="2011680" cy="20116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5"/>
          <p:cNvSpPr/>
          <p:nvPr/>
        </p:nvSpPr>
        <p:spPr>
          <a:xfrm>
            <a:off x="411480" y="320040"/>
            <a:ext cx="5280714" cy="566946"/>
          </a:xfrm>
          <a:prstGeom prst="flowChartTerminator">
            <a:avLst/>
          </a:prstGeom>
          <a:solidFill>
            <a:srgbClr val="FFFFFF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Three Design Docs Before Code</a:t>
            </a:r>
            <a:endParaRPr sz="24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90" name="Google Shape;190;p25"/>
          <p:cNvSpPr/>
          <p:nvPr/>
        </p:nvSpPr>
        <p:spPr>
          <a:xfrm>
            <a:off x="7086600" y="393192"/>
            <a:ext cx="1645920" cy="420606"/>
          </a:xfrm>
          <a:prstGeom prst="flowChartTerminator">
            <a:avLst/>
          </a:prstGeom>
          <a:solidFill>
            <a:srgbClr val="5CDB6D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Step 6</a:t>
            </a:r>
            <a:endParaRPr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411480" y="1097280"/>
            <a:ext cx="5715000" cy="3612000"/>
          </a:xfrm>
          <a:prstGeom prst="roundRect">
            <a:avLst>
              <a:gd fmla="val 16667" name="adj"/>
            </a:avLst>
          </a:prstGeom>
          <a:solidFill>
            <a:srgbClr val="CCF6C5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25"/>
          <p:cNvSpPr/>
          <p:nvPr/>
        </p:nvSpPr>
        <p:spPr>
          <a:xfrm>
            <a:off x="6355080" y="1097280"/>
            <a:ext cx="2377500" cy="361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p25"/>
          <p:cNvSpPr txBox="1"/>
          <p:nvPr/>
        </p:nvSpPr>
        <p:spPr>
          <a:xfrm>
            <a:off x="731520" y="1463040"/>
            <a:ext cx="5120700" cy="310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1E1E1E"/>
              </a:buClr>
              <a:buSzPts val="1800"/>
              <a:buFont typeface="Google Sans"/>
              <a:buChar char="●"/>
            </a:pPr>
            <a:r>
              <a:rPr lang="en" sz="18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Gemini 3.8 - </a:t>
            </a:r>
            <a:r>
              <a:rPr i="1" lang="en" sz="18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Argon is limited</a:t>
            </a:r>
            <a:r>
              <a:rPr lang="en" sz="18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*</a:t>
            </a:r>
            <a:endParaRPr sz="18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Clr>
                <a:srgbClr val="1E1E1E"/>
              </a:buClr>
              <a:buSzPts val="1800"/>
              <a:buFont typeface="Google Sans"/>
              <a:buChar char="●"/>
            </a:pPr>
            <a:r>
              <a:rPr lang="en" sz="18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One prompt writes product.md, ui.md and engineering.md</a:t>
            </a:r>
            <a:endParaRPr sz="18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Clr>
                <a:srgbClr val="1E1E1E"/>
              </a:buClr>
              <a:buSzPts val="1800"/>
              <a:buFont typeface="Google Sans"/>
              <a:buChar char="●"/>
            </a:pPr>
            <a:r>
              <a:rPr lang="en" sz="18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engineering.md needs a Testing strategy section</a:t>
            </a:r>
            <a:endParaRPr sz="18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1200"/>
              </a:spcAft>
              <a:buClr>
                <a:srgbClr val="1E1E1E"/>
              </a:buClr>
              <a:buSzPts val="1800"/>
              <a:buFont typeface="Google Sans"/>
              <a:buChar char="●"/>
            </a:pPr>
            <a:r>
              <a:rPr lang="en" sz="18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Comment on the docs; fix the doc, not the code</a:t>
            </a:r>
            <a:endParaRPr sz="18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6492240" y="3566160"/>
            <a:ext cx="210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Codelab step 6</a:t>
            </a:r>
            <a:endParaRPr sz="16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195" name="Google Shape;195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37960" y="1417320"/>
            <a:ext cx="2011680" cy="20116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6"/>
          <p:cNvSpPr/>
          <p:nvPr/>
        </p:nvSpPr>
        <p:spPr>
          <a:xfrm>
            <a:off x="411480" y="320040"/>
            <a:ext cx="5280714" cy="566946"/>
          </a:xfrm>
          <a:prstGeom prst="flowChartTerminator">
            <a:avLst/>
          </a:prstGeom>
          <a:solidFill>
            <a:srgbClr val="FFFFFF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Build It, Make the Tests Pass</a:t>
            </a:r>
            <a:endParaRPr sz="24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01" name="Google Shape;201;p26"/>
          <p:cNvSpPr/>
          <p:nvPr/>
        </p:nvSpPr>
        <p:spPr>
          <a:xfrm>
            <a:off x="7086600" y="393192"/>
            <a:ext cx="1645920" cy="420606"/>
          </a:xfrm>
          <a:prstGeom prst="flowChartTerminator">
            <a:avLst/>
          </a:prstGeom>
          <a:solidFill>
            <a:srgbClr val="5CDB6D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Step 7</a:t>
            </a:r>
            <a:endParaRPr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02" name="Google Shape;202;p26"/>
          <p:cNvSpPr/>
          <p:nvPr/>
        </p:nvSpPr>
        <p:spPr>
          <a:xfrm>
            <a:off x="411480" y="1097280"/>
            <a:ext cx="5715000" cy="3612000"/>
          </a:xfrm>
          <a:prstGeom prst="roundRect">
            <a:avLst>
              <a:gd fmla="val 16667" name="adj"/>
            </a:avLst>
          </a:prstGeom>
          <a:solidFill>
            <a:srgbClr val="CCF6C5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26"/>
          <p:cNvSpPr/>
          <p:nvPr/>
        </p:nvSpPr>
        <p:spPr>
          <a:xfrm>
            <a:off x="6355080" y="1097280"/>
            <a:ext cx="2377500" cy="361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26"/>
          <p:cNvSpPr txBox="1"/>
          <p:nvPr/>
        </p:nvSpPr>
        <p:spPr>
          <a:xfrm>
            <a:off x="731520" y="1463040"/>
            <a:ext cx="5120700" cy="310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1E1E1E"/>
              </a:buClr>
              <a:buSzPts val="1800"/>
              <a:buFont typeface="Google Sans"/>
              <a:buChar char="●"/>
            </a:pPr>
            <a:r>
              <a:rPr lang="en" sz="18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Gemini 3.8 - Argon Limited</a:t>
            </a:r>
            <a:endParaRPr sz="18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Clr>
                <a:srgbClr val="1E1E1E"/>
              </a:buClr>
              <a:buSzPts val="1800"/>
              <a:buFont typeface="Google Sans"/>
              <a:buChar char="●"/>
            </a:pPr>
            <a:r>
              <a:rPr lang="en" sz="18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The agent builds from the docs and mocks Gemini in tests</a:t>
            </a:r>
            <a:endParaRPr sz="18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Clr>
                <a:srgbClr val="1E1E1E"/>
              </a:buClr>
              <a:buSzPts val="1800"/>
              <a:buFont typeface="Google Sans"/>
              <a:buChar char="●"/>
            </a:pPr>
            <a:r>
              <a:rPr lang="en" sz="18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Done: backend/, frontend/ and tests/ exist, all tests pass</a:t>
            </a:r>
            <a:endParaRPr sz="18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1200"/>
              </a:spcAft>
              <a:buClr>
                <a:srgbClr val="1E1E1E"/>
              </a:buClr>
              <a:buSzPts val="1800"/>
              <a:buFont typeface="Google Sans"/>
              <a:buChar char="●"/>
            </a:pPr>
            <a:r>
              <a:rPr lang="en" sz="18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Never skip tests; fix the Testing strategy instead</a:t>
            </a:r>
            <a:endParaRPr sz="18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05" name="Google Shape;205;p26"/>
          <p:cNvSpPr txBox="1"/>
          <p:nvPr/>
        </p:nvSpPr>
        <p:spPr>
          <a:xfrm>
            <a:off x="6492240" y="3566160"/>
            <a:ext cx="210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Codelab step 7</a:t>
            </a:r>
            <a:endParaRPr sz="16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206" name="Google Shape;206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37960" y="1417320"/>
            <a:ext cx="2011680" cy="20116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7"/>
          <p:cNvSpPr/>
          <p:nvPr/>
        </p:nvSpPr>
        <p:spPr>
          <a:xfrm>
            <a:off x="411480" y="320040"/>
            <a:ext cx="4320324" cy="566946"/>
          </a:xfrm>
          <a:prstGeom prst="flowChartTerminator">
            <a:avLst/>
          </a:prstGeom>
          <a:solidFill>
            <a:srgbClr val="FFFFFF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Add Your Gemini API Key</a:t>
            </a:r>
            <a:endParaRPr sz="24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12" name="Google Shape;212;p27"/>
          <p:cNvSpPr/>
          <p:nvPr/>
        </p:nvSpPr>
        <p:spPr>
          <a:xfrm>
            <a:off x="7086600" y="393192"/>
            <a:ext cx="1645920" cy="420606"/>
          </a:xfrm>
          <a:prstGeom prst="flowChartTerminator">
            <a:avLst/>
          </a:prstGeom>
          <a:solidFill>
            <a:srgbClr val="5CDB6D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Step 8</a:t>
            </a:r>
            <a:endParaRPr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13" name="Google Shape;213;p27"/>
          <p:cNvSpPr/>
          <p:nvPr/>
        </p:nvSpPr>
        <p:spPr>
          <a:xfrm>
            <a:off x="411480" y="1097280"/>
            <a:ext cx="5715000" cy="3612000"/>
          </a:xfrm>
          <a:prstGeom prst="roundRect">
            <a:avLst>
              <a:gd fmla="val 16667" name="adj"/>
            </a:avLst>
          </a:prstGeom>
          <a:solidFill>
            <a:srgbClr val="CCF6C5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p27"/>
          <p:cNvSpPr/>
          <p:nvPr/>
        </p:nvSpPr>
        <p:spPr>
          <a:xfrm>
            <a:off x="6355080" y="1097280"/>
            <a:ext cx="2377500" cy="361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27"/>
          <p:cNvSpPr txBox="1"/>
          <p:nvPr/>
        </p:nvSpPr>
        <p:spPr>
          <a:xfrm>
            <a:off x="731520" y="1463040"/>
            <a:ext cx="5120700" cy="310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1E1E1E"/>
              </a:buClr>
              <a:buSzPts val="1800"/>
              <a:buFont typeface="Google Sans"/>
              <a:buChar char="●"/>
            </a:pPr>
            <a:r>
              <a:rPr lang="en" sz="18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Create a key in Google AI Studio</a:t>
            </a:r>
            <a:endParaRPr sz="18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Clr>
                <a:srgbClr val="1E1E1E"/>
              </a:buClr>
              <a:buSzPts val="1800"/>
              <a:buFont typeface="Google Sans"/>
              <a:buChar char="●"/>
            </a:pPr>
            <a:r>
              <a:rPr lang="en" sz="18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The agent writes backend/.env with GEMINI_API_KEY</a:t>
            </a:r>
            <a:endParaRPr sz="18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Clr>
                <a:srgbClr val="1E1E1E"/>
              </a:buClr>
              <a:buSzPts val="1800"/>
              <a:buFont typeface="Google Sans"/>
              <a:buChar char="●"/>
            </a:pPr>
            <a:r>
              <a:rPr lang="en" sz="18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Check that .env is in .gitignore</a:t>
            </a:r>
            <a:endParaRPr sz="18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1200"/>
              </a:spcAft>
              <a:buClr>
                <a:srgbClr val="1E1E1E"/>
              </a:buClr>
              <a:buSzPts val="1800"/>
              <a:buFont typeface="Google Sans"/>
              <a:buChar char="●"/>
            </a:pPr>
            <a:r>
              <a:rPr lang="en" sz="18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Treat the key like a password; never commit it</a:t>
            </a:r>
            <a:endParaRPr sz="18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16" name="Google Shape;216;p27"/>
          <p:cNvSpPr txBox="1"/>
          <p:nvPr/>
        </p:nvSpPr>
        <p:spPr>
          <a:xfrm>
            <a:off x="6492240" y="3566160"/>
            <a:ext cx="210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Codelab step 8</a:t>
            </a:r>
            <a:endParaRPr sz="16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217" name="Google Shape;217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37960" y="1417320"/>
            <a:ext cx="2011680" cy="20116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28"/>
          <p:cNvSpPr/>
          <p:nvPr/>
        </p:nvSpPr>
        <p:spPr>
          <a:xfrm>
            <a:off x="411480" y="320040"/>
            <a:ext cx="4960386" cy="566946"/>
          </a:xfrm>
          <a:prstGeom prst="flowChartTerminator">
            <a:avLst/>
          </a:prstGeom>
          <a:solidFill>
            <a:srgbClr val="FFFFFF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Run It and Check It by Hand</a:t>
            </a:r>
            <a:endParaRPr sz="24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23" name="Google Shape;223;p28"/>
          <p:cNvSpPr/>
          <p:nvPr/>
        </p:nvSpPr>
        <p:spPr>
          <a:xfrm>
            <a:off x="7086600" y="393192"/>
            <a:ext cx="1645920" cy="420606"/>
          </a:xfrm>
          <a:prstGeom prst="flowChartTerminator">
            <a:avLst/>
          </a:prstGeom>
          <a:solidFill>
            <a:srgbClr val="5CDB6D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Step 9</a:t>
            </a:r>
            <a:endParaRPr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24" name="Google Shape;224;p28"/>
          <p:cNvSpPr/>
          <p:nvPr/>
        </p:nvSpPr>
        <p:spPr>
          <a:xfrm>
            <a:off x="411480" y="1097280"/>
            <a:ext cx="5715000" cy="3612000"/>
          </a:xfrm>
          <a:prstGeom prst="roundRect">
            <a:avLst>
              <a:gd fmla="val 16667" name="adj"/>
            </a:avLst>
          </a:prstGeom>
          <a:solidFill>
            <a:srgbClr val="CCF6C5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p28"/>
          <p:cNvSpPr/>
          <p:nvPr/>
        </p:nvSpPr>
        <p:spPr>
          <a:xfrm>
            <a:off x="6355080" y="1097280"/>
            <a:ext cx="2377500" cy="361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28"/>
          <p:cNvSpPr txBox="1"/>
          <p:nvPr/>
        </p:nvSpPr>
        <p:spPr>
          <a:xfrm>
            <a:off x="731520" y="1463040"/>
            <a:ext cx="5120700" cy="310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1E1E1E"/>
              </a:buClr>
              <a:buSzPts val="1800"/>
              <a:buFont typeface="Google Sans"/>
              <a:buChar char="●"/>
            </a:pPr>
            <a:r>
              <a:rPr lang="en" sz="18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Ask the agent to start the dev server; click Allow</a:t>
            </a:r>
            <a:endParaRPr sz="18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Clr>
                <a:srgbClr val="1E1E1E"/>
              </a:buClr>
              <a:buSzPts val="1800"/>
              <a:buFont typeface="Google Sans"/>
              <a:buChar char="●"/>
            </a:pPr>
            <a:r>
              <a:rPr lang="en" sz="18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Open localhost:8000 or localhost:5173</a:t>
            </a:r>
            <a:endParaRPr sz="18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Clr>
                <a:srgbClr val="1E1E1E"/>
              </a:buClr>
              <a:buSzPts val="1800"/>
              <a:buFont typeface="Google Sans"/>
              <a:buChar char="●"/>
            </a:pPr>
            <a:r>
              <a:rPr lang="en" sz="18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Paste a real resume and a real job posting</a:t>
            </a:r>
            <a:endParaRPr sz="18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1200"/>
              </a:spcAft>
              <a:buClr>
                <a:srgbClr val="1E1E1E"/>
              </a:buClr>
              <a:buSzPts val="1800"/>
              <a:buFont typeface="Google Sans"/>
              <a:buChar char="●"/>
            </a:pPr>
            <a:r>
              <a:rPr lang="en" sz="18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Report problems, then have the agent write the README</a:t>
            </a:r>
            <a:endParaRPr sz="18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27" name="Google Shape;227;p28"/>
          <p:cNvSpPr txBox="1"/>
          <p:nvPr/>
        </p:nvSpPr>
        <p:spPr>
          <a:xfrm>
            <a:off x="6492240" y="3566160"/>
            <a:ext cx="210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Codelab step 9</a:t>
            </a:r>
            <a:endParaRPr sz="16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228" name="Google Shape;228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37960" y="1417320"/>
            <a:ext cx="2011680" cy="20116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29"/>
          <p:cNvSpPr/>
          <p:nvPr/>
        </p:nvSpPr>
        <p:spPr>
          <a:xfrm>
            <a:off x="411480" y="320040"/>
            <a:ext cx="4320324" cy="566946"/>
          </a:xfrm>
          <a:prstGeom prst="flowChartTerminator">
            <a:avLst/>
          </a:prstGeom>
          <a:solidFill>
            <a:srgbClr val="FFFFFF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Tips for Better Bullets</a:t>
            </a:r>
            <a:endParaRPr sz="24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34" name="Google Shape;234;p29"/>
          <p:cNvSpPr/>
          <p:nvPr/>
        </p:nvSpPr>
        <p:spPr>
          <a:xfrm>
            <a:off x="7086600" y="393192"/>
            <a:ext cx="1645920" cy="420606"/>
          </a:xfrm>
          <a:prstGeom prst="flowChartTerminator">
            <a:avLst/>
          </a:prstGeom>
          <a:solidFill>
            <a:srgbClr val="FF7DAF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Tips</a:t>
            </a:r>
            <a:endParaRPr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35" name="Google Shape;235;p29"/>
          <p:cNvSpPr/>
          <p:nvPr/>
        </p:nvSpPr>
        <p:spPr>
          <a:xfrm>
            <a:off x="411480" y="1097280"/>
            <a:ext cx="5715000" cy="3612000"/>
          </a:xfrm>
          <a:prstGeom prst="roundRect">
            <a:avLst>
              <a:gd fmla="val 16667" name="adj"/>
            </a:avLst>
          </a:prstGeom>
          <a:solidFill>
            <a:srgbClr val="F8D8D8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p29"/>
          <p:cNvSpPr/>
          <p:nvPr/>
        </p:nvSpPr>
        <p:spPr>
          <a:xfrm>
            <a:off x="6355080" y="1097280"/>
            <a:ext cx="2377500" cy="361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29"/>
          <p:cNvSpPr txBox="1"/>
          <p:nvPr/>
        </p:nvSpPr>
        <p:spPr>
          <a:xfrm>
            <a:off x="731520" y="1463040"/>
            <a:ext cx="5120700" cy="310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1E1E1E"/>
              </a:buClr>
              <a:buSzPts val="1800"/>
              <a:buFont typeface="Google Sans"/>
              <a:buChar char="●"/>
            </a:pPr>
            <a:r>
              <a:rPr lang="en" sz="18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Paste the full job posting, not just the title</a:t>
            </a:r>
            <a:endParaRPr sz="18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Clr>
                <a:srgbClr val="1E1E1E"/>
              </a:buClr>
              <a:buSzPts val="1800"/>
              <a:buFont typeface="Google Sans"/>
              <a:buChar char="●"/>
            </a:pPr>
            <a:r>
              <a:rPr lang="en" sz="18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Read the bullets aloud; if you wouldn't say it in an interview, change the prompt</a:t>
            </a:r>
            <a:endParaRPr sz="18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Clr>
                <a:srgbClr val="1E1E1E"/>
              </a:buClr>
              <a:buSzPts val="1800"/>
              <a:buFont typeface="Google Sans"/>
              <a:buChar char="●"/>
            </a:pPr>
            <a:r>
              <a:rPr lang="en" sz="18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Skip cover letters, PDF parsing and ATS scoring on purpose</a:t>
            </a:r>
            <a:endParaRPr sz="18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1200"/>
              </a:spcAft>
              <a:buClr>
                <a:srgbClr val="1E1E1E"/>
              </a:buClr>
              <a:buSzPts val="1800"/>
              <a:buFont typeface="Google Sans"/>
              <a:buChar char="●"/>
            </a:pPr>
            <a:r>
              <a:rPr lang="en" sz="18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Stuck? Ask the room, then a mentor</a:t>
            </a:r>
            <a:endParaRPr sz="18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38" name="Google Shape;238;p29"/>
          <p:cNvSpPr txBox="1"/>
          <p:nvPr/>
        </p:nvSpPr>
        <p:spPr>
          <a:xfrm>
            <a:off x="6492240" y="3566160"/>
            <a:ext cx="210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Track tips</a:t>
            </a:r>
            <a:endParaRPr sz="16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239" name="Google Shape;239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37960" y="1417320"/>
            <a:ext cx="2011680" cy="20116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30"/>
          <p:cNvSpPr/>
          <p:nvPr/>
        </p:nvSpPr>
        <p:spPr>
          <a:xfrm>
            <a:off x="411480" y="320040"/>
            <a:ext cx="5920722" cy="566946"/>
          </a:xfrm>
          <a:prstGeom prst="flowChartTerminator">
            <a:avLst/>
          </a:prstGeom>
          <a:solidFill>
            <a:srgbClr val="FFFFFF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Share and Submit Before You Leave</a:t>
            </a:r>
            <a:endParaRPr sz="24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45" name="Google Shape;245;p30"/>
          <p:cNvSpPr/>
          <p:nvPr/>
        </p:nvSpPr>
        <p:spPr>
          <a:xfrm>
            <a:off x="7086600" y="393192"/>
            <a:ext cx="1645920" cy="420606"/>
          </a:xfrm>
          <a:prstGeom prst="flowChartTerminator">
            <a:avLst/>
          </a:prstGeom>
          <a:solidFill>
            <a:srgbClr val="FF7DAF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Step 10</a:t>
            </a:r>
            <a:endParaRPr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46" name="Google Shape;246;p30"/>
          <p:cNvSpPr/>
          <p:nvPr/>
        </p:nvSpPr>
        <p:spPr>
          <a:xfrm>
            <a:off x="411480" y="1097280"/>
            <a:ext cx="5715000" cy="3612000"/>
          </a:xfrm>
          <a:prstGeom prst="roundRect">
            <a:avLst>
              <a:gd fmla="val 16667" name="adj"/>
            </a:avLst>
          </a:prstGeom>
          <a:solidFill>
            <a:srgbClr val="F8D8D8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7" name="Google Shape;247;p30"/>
          <p:cNvSpPr/>
          <p:nvPr/>
        </p:nvSpPr>
        <p:spPr>
          <a:xfrm>
            <a:off x="6355080" y="1097280"/>
            <a:ext cx="2377500" cy="361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p30"/>
          <p:cNvSpPr txBox="1"/>
          <p:nvPr/>
        </p:nvSpPr>
        <p:spPr>
          <a:xfrm>
            <a:off x="731520" y="1463040"/>
            <a:ext cx="5120700" cy="310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1E1E1E"/>
              </a:buClr>
              <a:buSzPts val="1800"/>
              <a:buFont typeface="Google Sans"/>
              <a:buChar char="●"/>
            </a:pPr>
            <a:r>
              <a:rPr lang="en" sz="18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Two-minute screen-share demo</a:t>
            </a:r>
            <a:endParaRPr sz="18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Clr>
                <a:srgbClr val="1E1E1E"/>
              </a:buClr>
              <a:buSzPts val="1800"/>
              <a:buFont typeface="Google Sans"/>
              <a:buChar char="●"/>
            </a:pPr>
            <a:r>
              <a:rPr lang="en" sz="18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Submit your build: it goes on the showcase</a:t>
            </a:r>
            <a:endParaRPr sz="18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1200"/>
              </a:spcAft>
              <a:buClr>
                <a:srgbClr val="1E1E1E"/>
              </a:buClr>
              <a:buSzPts val="1800"/>
              <a:buFont typeface="Google Sans"/>
              <a:buChar char="●"/>
            </a:pPr>
            <a:r>
              <a:rPr lang="en" sz="18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Your name and chapter go with it</a:t>
            </a:r>
            <a:endParaRPr sz="18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49" name="Google Shape;249;p30"/>
          <p:cNvSpPr txBox="1"/>
          <p:nvPr/>
        </p:nvSpPr>
        <p:spPr>
          <a:xfrm>
            <a:off x="6492240" y="3566160"/>
            <a:ext cx="210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Submit your build</a:t>
            </a:r>
            <a:endParaRPr sz="16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250" name="Google Shape;250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37960" y="1417320"/>
            <a:ext cx="2011680" cy="20116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1"/>
          <p:cNvSpPr/>
          <p:nvPr/>
        </p:nvSpPr>
        <p:spPr>
          <a:xfrm>
            <a:off x="411480" y="320040"/>
            <a:ext cx="4000644" cy="566946"/>
          </a:xfrm>
          <a:prstGeom prst="flowChartTerminator">
            <a:avLst/>
          </a:prstGeom>
          <a:solidFill>
            <a:srgbClr val="FFFFFF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Keep Building at Home</a:t>
            </a:r>
            <a:endParaRPr sz="24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56" name="Google Shape;256;p31"/>
          <p:cNvSpPr/>
          <p:nvPr/>
        </p:nvSpPr>
        <p:spPr>
          <a:xfrm>
            <a:off x="7086600" y="393192"/>
            <a:ext cx="1645920" cy="420606"/>
          </a:xfrm>
          <a:prstGeom prst="flowChartTerminator">
            <a:avLst/>
          </a:prstGeom>
          <a:solidFill>
            <a:srgbClr val="F9AB00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After the jam</a:t>
            </a:r>
            <a:endParaRPr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57" name="Google Shape;257;p31"/>
          <p:cNvSpPr/>
          <p:nvPr/>
        </p:nvSpPr>
        <p:spPr>
          <a:xfrm>
            <a:off x="411480" y="1097280"/>
            <a:ext cx="5715000" cy="3612000"/>
          </a:xfrm>
          <a:prstGeom prst="roundRect">
            <a:avLst>
              <a:gd fmla="val 16667" name="adj"/>
            </a:avLst>
          </a:prstGeom>
          <a:solidFill>
            <a:srgbClr val="FFE79C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31"/>
          <p:cNvSpPr/>
          <p:nvPr/>
        </p:nvSpPr>
        <p:spPr>
          <a:xfrm>
            <a:off x="6355080" y="1097280"/>
            <a:ext cx="2377500" cy="361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9" name="Google Shape;259;p31"/>
          <p:cNvSpPr txBox="1"/>
          <p:nvPr/>
        </p:nvSpPr>
        <p:spPr>
          <a:xfrm>
            <a:off x="731520" y="1463040"/>
            <a:ext cx="5120700" cy="310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1E1E1E"/>
              </a:buClr>
              <a:buSzPts val="1800"/>
              <a:buFont typeface="Google Sans"/>
              <a:buChar char="●"/>
            </a:pPr>
            <a:r>
              <a:rPr lang="en" sz="18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Match score and missing keywords</a:t>
            </a:r>
            <a:endParaRPr sz="18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Clr>
                <a:srgbClr val="1E1E1E"/>
              </a:buClr>
              <a:buSzPts val="1800"/>
              <a:buFont typeface="Google Sans"/>
              <a:buChar char="●"/>
            </a:pPr>
            <a:r>
              <a:rPr lang="en" sz="18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PDF resume parsing</a:t>
            </a:r>
            <a:endParaRPr sz="18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Clr>
                <a:srgbClr val="1E1E1E"/>
              </a:buClr>
              <a:buSzPts val="1800"/>
              <a:buFont typeface="Google Sans"/>
              <a:buChar char="●"/>
            </a:pPr>
            <a:r>
              <a:rPr lang="en" sz="18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Cover letter generator</a:t>
            </a:r>
            <a:endParaRPr sz="18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Clr>
                <a:srgbClr val="1E1E1E"/>
              </a:buClr>
              <a:buSzPts val="1800"/>
              <a:buFont typeface="Google Sans"/>
              <a:buChar char="●"/>
            </a:pPr>
            <a:r>
              <a:rPr lang="en" sz="18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Interview question generator</a:t>
            </a:r>
            <a:endParaRPr sz="18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1200"/>
              </a:spcAft>
              <a:buClr>
                <a:srgbClr val="1E1E1E"/>
              </a:buClr>
              <a:buSzPts val="1800"/>
              <a:buFont typeface="Google Sans"/>
              <a:buChar char="●"/>
            </a:pPr>
            <a:r>
              <a:rPr lang="en" sz="18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Application tracker</a:t>
            </a:r>
            <a:endParaRPr sz="18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60" name="Google Shape;260;p31"/>
          <p:cNvSpPr txBox="1"/>
          <p:nvPr/>
        </p:nvSpPr>
        <p:spPr>
          <a:xfrm>
            <a:off x="6492240" y="3566160"/>
            <a:ext cx="210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Starter repo</a:t>
            </a:r>
            <a:endParaRPr sz="16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261" name="Google Shape;261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37960" y="1417320"/>
            <a:ext cx="2011680" cy="20116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32"/>
          <p:cNvSpPr/>
          <p:nvPr/>
        </p:nvSpPr>
        <p:spPr>
          <a:xfrm>
            <a:off x="365760" y="320040"/>
            <a:ext cx="8412600" cy="4526400"/>
          </a:xfrm>
          <a:prstGeom prst="roundRect">
            <a:avLst>
              <a:gd fmla="val 16667" name="adj"/>
            </a:avLst>
          </a:prstGeom>
          <a:solidFill>
            <a:srgbClr val="C3ECF6"/>
          </a:solidFill>
          <a:ln cap="flat" cmpd="sng" w="19050">
            <a:solidFill>
              <a:srgbClr val="1E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777240" y="502920"/>
            <a:ext cx="7589400" cy="374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Where to Find Me</a:t>
            </a:r>
            <a:endParaRPr sz="28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0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LinkedIn  linkedin.com/in/xbill</a:t>
            </a:r>
            <a:endParaRPr sz="20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0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Dev.to  dev.to/xbill</a:t>
            </a:r>
            <a:endParaRPr sz="20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0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Medium  medium.com/@xbill999</a:t>
            </a:r>
            <a:endParaRPr sz="20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0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GitHub  github.com/xbill9</a:t>
            </a:r>
            <a:endParaRPr sz="20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0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Hugging Face  huggingface.co/xbill9</a:t>
            </a:r>
            <a:endParaRPr sz="20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2000">
                <a:solidFill>
                  <a:srgbClr val="1E1E1E"/>
                </a:solidFill>
                <a:latin typeface="Google Sans"/>
                <a:ea typeface="Google Sans"/>
                <a:cs typeface="Google Sans"/>
                <a:sym typeface="Google Sans"/>
              </a:rPr>
              <a:t>AWS Builder Center  </a:t>
            </a:r>
            <a:r>
              <a:rPr lang="en" sz="2000">
                <a:solidFill>
                  <a:srgbClr val="1E1E1E"/>
                </a:solidFill>
                <a:uFill>
                  <a:noFill/>
                </a:uFill>
                <a:latin typeface="Google Sans"/>
                <a:ea typeface="Google Sans"/>
                <a:cs typeface="Google Sans"/>
                <a:sym typeface="Google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builder.aws.com/community/@xbill9</a:t>
            </a:r>
            <a:endParaRPr sz="2000">
              <a:solidFill>
                <a:srgbClr val="1E1E1E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268" name="Google Shape;268;p32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700000" y="1150000"/>
            <a:ext cx="1900000" cy="190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